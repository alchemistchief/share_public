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Urbanist Medium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bf6af188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bf6af188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95625" y="1804987"/>
            <a:ext cx="60007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社会信用测试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813399" y="3357562"/>
            <a:ext cx="2565052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Shèhuì xìnyòng cèshì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14800" y="4321373"/>
            <a:ext cx="39624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做一个好公民，获得社会高分</a:t>
            </a:r>
            <a:endParaRPr/>
          </a:p>
        </p:txBody>
      </p:sp>
      <p:pic>
        <p:nvPicPr>
          <p:cNvPr id="2" name="background">
            <a:hlinkClick r:id="" action="ppaction://media"/>
            <a:extLst>
              <a:ext uri="{FF2B5EF4-FFF2-40B4-BE49-F238E27FC236}">
                <a16:creationId xmlns:a16="http://schemas.microsoft.com/office/drawing/2014/main" id="{472A4402-4331-6EA1-DA26-E01201BF65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9091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1362075"/>
            <a:ext cx="11601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什么是社会信用</a:t>
            </a:r>
            <a:r>
              <a:rPr lang="en-US" sz="7500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43852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Shénme</a:t>
            </a:r>
            <a:r>
              <a:rPr lang="en-US" sz="2100" b="0" i="0" u="none" strike="noStrike" cap="none" dirty="0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... </a:t>
            </a:r>
            <a:r>
              <a:rPr lang="en-US" sz="2100" b="0" i="0" u="none" strike="noStrike" cap="none" dirty="0" err="1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yhoa</a:t>
            </a:r>
            <a:r>
              <a:rPr lang="en-US" sz="2100" b="0" i="0" u="none" strike="noStrike" cap="none" dirty="0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100" b="0" i="0" u="none" strike="noStrike" cap="none" dirty="0" err="1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zau</a:t>
            </a:r>
            <a:r>
              <a:rPr lang="en-US" sz="2100" b="0" i="0" u="none" strike="noStrike" cap="none" dirty="0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... </a:t>
            </a:r>
            <a:r>
              <a:rPr lang="en-US" sz="2100" b="0" i="0" u="none" strike="noStrike" cap="none" dirty="0" err="1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shèhuì</a:t>
            </a:r>
            <a:r>
              <a:rPr lang="en-US" sz="2100" b="0" i="0" u="none" strike="noStrike" cap="none" dirty="0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100" b="0" i="0" u="none" strike="noStrike" cap="none" dirty="0" err="1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xìnyòng</a:t>
            </a:r>
            <a:r>
              <a:rPr lang="en-US" sz="2100" b="0" i="0" u="none" strike="noStrike" cap="none" dirty="0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?</a:t>
            </a:r>
            <a:endParaRPr dirty="0"/>
          </a:p>
        </p:txBody>
      </p:sp>
      <p:sp>
        <p:nvSpPr>
          <p:cNvPr id="95" name="Google Shape;95;p14"/>
          <p:cNvSpPr/>
          <p:nvPr/>
        </p:nvSpPr>
        <p:spPr>
          <a:xfrm>
            <a:off x="5143500" y="4192785"/>
            <a:ext cx="1905000" cy="47625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621410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社会信用评分系统是旨在衡量公民诚信和爱国程度的机制。分数越高，您的生活质量越好。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3985"/>
            <a:ext cx="5381625" cy="447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63985"/>
            <a:ext cx="5381625" cy="44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656986" y="5609332"/>
            <a:ext cx="521065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勤奋努力 (Qínfèn)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81050" y="6085582"/>
            <a:ext cx="49625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为国家建设贡献力量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324361" y="5609332"/>
            <a:ext cx="521065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懒惰躺平 (Lǎnduò)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448425" y="6085582"/>
            <a:ext cx="49625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这种行为会导致分数扣除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2573535"/>
            <a:ext cx="49625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61650" y="2525910"/>
            <a:ext cx="444549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title="istockphoto-1460761088-612x612.jpg"/>
          <p:cNvPicPr preferRelativeResize="0"/>
          <p:nvPr/>
        </p:nvPicPr>
        <p:blipFill rotWithShape="1">
          <a:blip r:embed="rId7">
            <a:alphaModFix/>
          </a:blip>
          <a:srcRect t="6815" b="6815"/>
          <a:stretch/>
        </p:blipFill>
        <p:spPr>
          <a:xfrm>
            <a:off x="6448425" y="2573535"/>
            <a:ext cx="4962524" cy="2857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努力工作 VS 躺平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70497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Nǔlì gōngzuò vs tōulǎn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94275" y="2525910"/>
            <a:ext cx="444549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3985"/>
            <a:ext cx="5381625" cy="447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63985"/>
            <a:ext cx="5381625" cy="44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56986" y="5609332"/>
            <a:ext cx="5210651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404" b="1" i="0" u="none" strike="noStrike" cap="none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马龙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4" b="1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Mǎ</a:t>
            </a:r>
            <a:r>
              <a:rPr lang="en-US" sz="1404" b="1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Lóng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781050" y="6085582"/>
            <a:ext cx="49625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有远见的中国科技巨头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324361" y="5609332"/>
            <a:ext cx="5210651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404" b="1" i="0" u="none" strike="noStrike" cap="none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马斯克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4" b="1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Mǎsīkè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6448425" y="6085582"/>
            <a:ext cx="49625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由于言论不稳定，不可信任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2573535"/>
            <a:ext cx="49625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title="musk.jpg"/>
          <p:cNvPicPr preferRelativeResize="0"/>
          <p:nvPr/>
        </p:nvPicPr>
        <p:blipFill rotWithShape="1">
          <a:blip r:embed="rId6">
            <a:alphaModFix/>
          </a:blip>
          <a:srcRect l="1153" r="1162"/>
          <a:stretch/>
        </p:blipFill>
        <p:spPr>
          <a:xfrm>
            <a:off x="6448425" y="2573535"/>
            <a:ext cx="49625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真正的科技领袖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170497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Zhēnzhèng de lǐngxiù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94275" y="2525910"/>
            <a:ext cx="444549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61650" y="2525910"/>
            <a:ext cx="444549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3985"/>
            <a:ext cx="5381625" cy="447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63985"/>
            <a:ext cx="5381625" cy="44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56986" y="5609332"/>
            <a:ext cx="5210651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404" b="1" i="0" u="none" strike="noStrike" cap="none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中华人民共和国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4" b="1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Zhōnghuá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781050" y="6085582"/>
            <a:ext cx="49625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这是唯一的合法政府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324361" y="5609332"/>
            <a:ext cx="5210651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404" b="1" i="0" u="none" strike="noStrike" cap="none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分裂主义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4" b="1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Fēnliè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6448425" y="6085582"/>
            <a:ext cx="49625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任何分裂企图都会被严惩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2573535"/>
            <a:ext cx="49625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title="taiwan-independence-secession-one-china-policy-concept-d-rendering-rendered-ideological-separation-f.jpg"/>
          <p:cNvPicPr preferRelativeResize="0"/>
          <p:nvPr/>
        </p:nvPicPr>
        <p:blipFill rotWithShape="1">
          <a:blip r:embed="rId6">
            <a:alphaModFix/>
          </a:blip>
          <a:srcRect t="6867" b="6867"/>
          <a:stretch/>
        </p:blipFill>
        <p:spPr>
          <a:xfrm>
            <a:off x="6448425" y="2573535"/>
            <a:ext cx="4962526" cy="2857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忠诚的象征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170497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Zhōngchéng de xiàngzhēng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94275" y="2525910"/>
            <a:ext cx="444549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61650" y="2525910"/>
            <a:ext cx="444549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3985"/>
            <a:ext cx="5381625" cy="447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63985"/>
            <a:ext cx="5381625" cy="44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656986" y="5609332"/>
            <a:ext cx="5210651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404" b="1" i="0" u="none" strike="noStrike" cap="none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传统喝茶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4" b="1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Hē</a:t>
            </a:r>
            <a:r>
              <a:rPr lang="en-US" sz="1404" b="1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4" b="1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Chá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781050" y="6085582"/>
            <a:ext cx="49625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促进身体健康与民族自豪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24361" y="5609332"/>
            <a:ext cx="5210651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404" b="1" i="0" u="none" strike="noStrike" cap="none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碳酸饮料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4" b="1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Yǐnliào</a:t>
            </a:r>
            <a:r>
              <a:rPr lang="en-US" sz="1404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6448425" y="6085582"/>
            <a:ext cx="49625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过量糖分会损害社会生产力</a:t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5">
            <a:alphaModFix/>
          </a:blip>
          <a:srcRect t="17700" b="17700"/>
          <a:stretch/>
        </p:blipFill>
        <p:spPr>
          <a:xfrm>
            <a:off x="781025" y="2573473"/>
            <a:ext cx="4962525" cy="29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61650" y="2525910"/>
            <a:ext cx="444549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48425" y="2573535"/>
            <a:ext cx="49625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健康的生活方式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170497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Jiànkāng de shēnghuó fāngshì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94275" y="2525910"/>
            <a:ext cx="444549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1843236"/>
            <a:ext cx="52006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电影零食礼仪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2976711"/>
            <a:ext cx="4953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Diànyǐng língshí lǐyí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3864322"/>
            <a:ext cx="49530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约翰·塞纳（</a:t>
            </a:r>
            <a:r>
              <a:rPr lang="en-US" sz="1800" b="0" i="0" u="none" strike="noStrike" cap="none" dirty="0" err="1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Yuēhàn</a:t>
            </a: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cap="none" dirty="0" err="1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Sāinà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）提醒我们，在电影院里冰淇淋是更好的选择。尊重文化意味着获得更多的积分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dirty="0"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35;p17" descr="image.png">
            <a:extLst>
              <a:ext uri="{FF2B5EF4-FFF2-40B4-BE49-F238E27FC236}">
                <a16:creationId xmlns:a16="http://schemas.microsoft.com/office/drawing/2014/main" id="{B609A89B-E3AB-6BBE-18E7-70B81485A1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63985"/>
            <a:ext cx="5334000" cy="421570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6496050" y="6050160"/>
            <a:ext cx="49149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1800" b="1" i="0" u="none" strike="noStrike" cap="none" dirty="0" err="1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历史的真实写照</a:t>
            </a:r>
            <a:r>
              <a:rPr lang="en-US" sz="1800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de-DE" sz="1800" dirty="0" err="1">
                <a:solidFill>
                  <a:srgbClr val="FFFF00"/>
                </a:solidFill>
              </a:rPr>
              <a:t>Lìshǐ</a:t>
            </a:r>
            <a:r>
              <a:rPr lang="de-DE" sz="1800" dirty="0">
                <a:solidFill>
                  <a:srgbClr val="FFFF00"/>
                </a:solidFill>
              </a:rPr>
              <a:t> de </a:t>
            </a:r>
            <a:r>
              <a:rPr lang="de-DE" sz="1800" dirty="0" err="1">
                <a:solidFill>
                  <a:srgbClr val="FFFF00"/>
                </a:solidFill>
              </a:rPr>
              <a:t>zhēnshí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xiězhào</a:t>
            </a:r>
            <a:r>
              <a:rPr lang="en-US" sz="1800" b="1" i="0" u="none" strike="noStrike" cap="none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573513"/>
            <a:ext cx="48577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r>
              <a:rPr lang="en-US" sz="1800" dirty="0">
                <a:ea typeface="Noto Sans SC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社会秩序是发展的基石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40000"/>
              </a:lnSpc>
            </a:pP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de-DE" sz="1800" dirty="0" err="1">
                <a:solidFill>
                  <a:srgbClr val="FFFF00"/>
                </a:solidFill>
              </a:rPr>
              <a:t>Shèhuì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zhìxù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shì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fāzhǎn</a:t>
            </a:r>
            <a:r>
              <a:rPr lang="de-DE" sz="1800" dirty="0">
                <a:solidFill>
                  <a:srgbClr val="FFFF00"/>
                </a:solidFill>
              </a:rPr>
              <a:t> de </a:t>
            </a:r>
            <a:r>
              <a:rPr lang="de-DE" sz="1800" dirty="0" err="1">
                <a:solidFill>
                  <a:srgbClr val="FFFF00"/>
                </a:solidFill>
              </a:rPr>
              <a:t>jīshí</a:t>
            </a: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3477714"/>
            <a:ext cx="5715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r>
              <a:rPr lang="en-US" sz="1800" dirty="0">
                <a:ea typeface="Noto Sans SC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历史安宁，风平浪静</a:t>
            </a:r>
            <a:endParaRPr lang="en-US" sz="1800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40000"/>
              </a:lnSpc>
            </a:pP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800" dirty="0" err="1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Lìshǐ</a:t>
            </a:r>
            <a:r>
              <a:rPr lang="en-US" sz="1800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dirty="0" err="1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ānníng</a:t>
            </a:r>
            <a:r>
              <a:rPr lang="en-US" sz="1800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800" dirty="0" err="1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fēngpínglàngjìng</a:t>
            </a: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325376"/>
            <a:ext cx="5334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r>
              <a:rPr lang="en-US" sz="1800" dirty="0">
                <a:ea typeface="Noto Sans SC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这一天什么都没有发生</a:t>
            </a:r>
            <a:endParaRPr lang="en-US" sz="1800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40000"/>
              </a:lnSpc>
            </a:pP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de-DE" sz="1800" dirty="0" err="1">
                <a:solidFill>
                  <a:srgbClr val="FFFF00"/>
                </a:solidFill>
              </a:rPr>
              <a:t>Zhè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yītiān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shénme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dōu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méiyǒu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fāshēng</a:t>
            </a: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5274563"/>
            <a:ext cx="485775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r>
              <a:rPr lang="en-US" sz="1800" dirty="0">
                <a:ea typeface="Noto Sans SC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每个公民都有责任保护公共和谐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40000"/>
              </a:lnSpc>
            </a:pP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de-DE" sz="1800" dirty="0" err="1">
                <a:solidFill>
                  <a:srgbClr val="FFFF00"/>
                </a:solidFill>
              </a:rPr>
              <a:t>Měigè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gōngmín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dōu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yǒu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zérèn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bǎohù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gōnggòng</a:t>
            </a:r>
            <a:r>
              <a:rPr lang="de-DE" sz="1800" dirty="0">
                <a:solidFill>
                  <a:srgbClr val="FFFF00"/>
                </a:solidFill>
              </a:rPr>
              <a:t> </a:t>
            </a:r>
            <a:r>
              <a:rPr lang="de-DE" sz="1800" dirty="0" err="1">
                <a:solidFill>
                  <a:srgbClr val="FFFF00"/>
                </a:solidFill>
              </a:rPr>
              <a:t>héxié</a:t>
            </a:r>
            <a:r>
              <a:rPr lang="en-US" sz="1800" b="0" i="0" u="none" strike="noStrike" cap="non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>
              <a:solidFill>
                <a:srgbClr val="FFFF00"/>
              </a:solidFill>
            </a:endParaRPr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6050" y="2573535"/>
            <a:ext cx="49149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维护社会秩序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170497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Wéihù shèhuì zhìxù</a:t>
            </a:r>
            <a:endParaRPr/>
          </a:p>
        </p:txBody>
      </p:sp>
      <p:pic>
        <p:nvPicPr>
          <p:cNvPr id="192" name="Google Shape;192;p20" title="choice_nomassacre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0838" y="2573513"/>
            <a:ext cx="5005325" cy="3503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74325" y="2525900"/>
            <a:ext cx="431875" cy="5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3918346"/>
            <a:ext cx="953541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2096541" y="2289185"/>
            <a:ext cx="1000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理想的家庭规模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2096541" y="2997398"/>
            <a:ext cx="95241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为了国家的未来 and 人口结构，三孩政策是公民应尽的义务。多子多福，为社会贡献未来的劳动力量。</a:t>
            </a:r>
            <a:endParaRPr/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16" y="4248707"/>
            <a:ext cx="952395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571500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三孩政策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170497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Sānhái zhèngcè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886771"/>
            <a:ext cx="5334000" cy="72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42024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6286500" y="322198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保护青少年的视力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286500" y="3698230"/>
            <a:ext cx="53340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过度游戏是精神依赖。国家规定未成年人仅限周五、周六和周日每晚限时游玩。遵守规则可获得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+10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积分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6486525" y="5086796"/>
            <a:ext cx="4933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🚫 晚上 9 点后必须关机！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571500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限制网络游戏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170497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Xiànzhì yóuxì shíjiān</a:t>
            </a:r>
            <a:endParaRPr/>
          </a:p>
        </p:txBody>
      </p:sp>
      <p:sp>
        <p:nvSpPr>
          <p:cNvPr id="2" name="Google Shape;213;p22">
            <a:extLst>
              <a:ext uri="{FF2B5EF4-FFF2-40B4-BE49-F238E27FC236}">
                <a16:creationId xmlns:a16="http://schemas.microsoft.com/office/drawing/2014/main" id="{BD4BB4C3-E4BE-B66B-040B-EFD78722702B}"/>
              </a:ext>
            </a:extLst>
          </p:cNvPr>
          <p:cNvSpPr txBox="1"/>
          <p:nvPr/>
        </p:nvSpPr>
        <p:spPr>
          <a:xfrm>
            <a:off x="5984843" y="1198622"/>
            <a:ext cx="5334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zh-CN" altLang="de-DE" sz="180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限制网络游戏</a:t>
            </a:r>
            <a:r>
              <a:rPr lang="de-DE" altLang="zh-CN" sz="1800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de-DE" altLang="zh-CN" sz="1800" dirty="0" err="1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Xiànzhì</a:t>
            </a:r>
            <a:r>
              <a:rPr lang="de-DE" altLang="zh-CN" sz="1800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de-DE" altLang="zh-CN" sz="1800" dirty="0" err="1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Yóuxì</a:t>
            </a:r>
            <a:r>
              <a:rPr lang="de-DE" altLang="zh-CN" sz="1800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6667500" y="1843236"/>
            <a:ext cx="52006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伟大的模范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667500" y="2976711"/>
            <a:ext cx="4953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Wěidà de mófàn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667500" y="3864322"/>
            <a:ext cx="49530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约翰·塞纳是国际模范。他不仅努力学习中文，还向全世界推广价值观。我们要像他一样保持维护。 +999,999 信用点！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571500" y="120387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您的评分是多少？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2864941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19A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Nín de píngfēn shì duōshǎo?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71500" y="3619202"/>
            <a:ext cx="11049000" cy="164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+999,999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571500" y="564802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恭喜您完成了课程！请提问。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71500" y="6550967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DE00"/>
                </a:solidFill>
                <a:latin typeface="Noto Sans SC"/>
                <a:ea typeface="Noto Sans SC"/>
                <a:cs typeface="Noto Sans SC"/>
                <a:sym typeface="Noto Sans SC"/>
              </a:rPr>
              <a:t>www.SocialCreditScore.cn | 做一个好公民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4A726C2-B160-547A-F530-103983718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925" y="2749385"/>
            <a:ext cx="4024640" cy="4024640"/>
          </a:xfrm>
          <a:prstGeom prst="rect">
            <a:avLst/>
          </a:prstGeom>
        </p:spPr>
      </p:pic>
      <p:pic>
        <p:nvPicPr>
          <p:cNvPr id="4" name="gut genug">
            <a:hlinkClick r:id="" action="ppaction://media"/>
            <a:extLst>
              <a:ext uri="{FF2B5EF4-FFF2-40B4-BE49-F238E27FC236}">
                <a16:creationId xmlns:a16="http://schemas.microsoft.com/office/drawing/2014/main" id="{6B603144-AE0A-C16C-4FA8-0CDEDA2315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8806" y="104962"/>
            <a:ext cx="609600" cy="6096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9E3692F-4967-1952-23F1-F69249EDFB10}"/>
              </a:ext>
            </a:extLst>
          </p:cNvPr>
          <p:cNvSpPr txBox="1"/>
          <p:nvPr/>
        </p:nvSpPr>
        <p:spPr>
          <a:xfrm>
            <a:off x="2624623" y="-48681"/>
            <a:ext cx="66271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  <a:highlight>
                  <a:srgbClr val="000000"/>
                </a:highlight>
              </a:rPr>
              <a:t>QUIZ</a:t>
            </a:r>
          </a:p>
          <a:p>
            <a:r>
              <a:rPr lang="de-DE" sz="4000" b="1" dirty="0">
                <a:solidFill>
                  <a:srgbClr val="C00000"/>
                </a:solidFill>
                <a:highlight>
                  <a:srgbClr val="000000"/>
                </a:highlight>
              </a:rPr>
              <a:t>Gemeinsam oder Alleine?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317A1E3-E9E1-4703-7E94-8FCEB18CB54A}"/>
              </a:ext>
            </a:extLst>
          </p:cNvPr>
          <p:cNvSpPr txBox="1"/>
          <p:nvPr/>
        </p:nvSpPr>
        <p:spPr>
          <a:xfrm>
            <a:off x="0" y="1964677"/>
            <a:ext cx="236314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000" b="1" dirty="0">
                <a:solidFill>
                  <a:srgbClr val="C00000"/>
                </a:solidFill>
                <a:highlight>
                  <a:srgbClr val="000000"/>
                </a:highlight>
              </a:rPr>
              <a:t>Gemeinsam</a:t>
            </a:r>
          </a:p>
          <a:p>
            <a:r>
              <a:rPr lang="de-DE" sz="1500" b="1" dirty="0">
                <a:solidFill>
                  <a:srgbClr val="FFC000"/>
                </a:solidFill>
                <a:highlight>
                  <a:srgbClr val="000000"/>
                </a:highlight>
              </a:rPr>
              <a:t>(Mit Moderator)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CEEB05A-AAC3-3746-15BB-C8B2A8D96080}"/>
              </a:ext>
            </a:extLst>
          </p:cNvPr>
          <p:cNvSpPr txBox="1"/>
          <p:nvPr/>
        </p:nvSpPr>
        <p:spPr>
          <a:xfrm>
            <a:off x="458458" y="4124392"/>
            <a:ext cx="14462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000" b="1" dirty="0">
                <a:solidFill>
                  <a:srgbClr val="C00000"/>
                </a:solidFill>
                <a:highlight>
                  <a:srgbClr val="000000"/>
                </a:highlight>
              </a:rPr>
              <a:t>Alleine</a:t>
            </a:r>
          </a:p>
        </p:txBody>
      </p:sp>
      <p:sp>
        <p:nvSpPr>
          <p:cNvPr id="17" name="Pfeil: nach unten 16">
            <a:extLst>
              <a:ext uri="{FF2B5EF4-FFF2-40B4-BE49-F238E27FC236}">
                <a16:creationId xmlns:a16="http://schemas.microsoft.com/office/drawing/2014/main" id="{F5E3BADE-C71B-D9E6-7AB0-36038D80367C}"/>
              </a:ext>
            </a:extLst>
          </p:cNvPr>
          <p:cNvSpPr/>
          <p:nvPr/>
        </p:nvSpPr>
        <p:spPr>
          <a:xfrm rot="16200000">
            <a:off x="2733846" y="1723921"/>
            <a:ext cx="525380" cy="106412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1246A83-FB8D-F6D7-1123-AD75537FE2EB}"/>
              </a:ext>
            </a:extLst>
          </p:cNvPr>
          <p:cNvSpPr txBox="1"/>
          <p:nvPr/>
        </p:nvSpPr>
        <p:spPr>
          <a:xfrm>
            <a:off x="3629925" y="1993294"/>
            <a:ext cx="887674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000" b="1" dirty="0">
                <a:solidFill>
                  <a:srgbClr val="C00000"/>
                </a:solidFill>
                <a:highlight>
                  <a:srgbClr val="000000"/>
                </a:highlight>
              </a:rPr>
              <a:t>https://alchemistchief.github.io/Social-Credit/</a:t>
            </a:r>
          </a:p>
        </p:txBody>
      </p:sp>
      <p:sp>
        <p:nvSpPr>
          <p:cNvPr id="22" name="Pfeil: nach unten 21">
            <a:extLst>
              <a:ext uri="{FF2B5EF4-FFF2-40B4-BE49-F238E27FC236}">
                <a16:creationId xmlns:a16="http://schemas.microsoft.com/office/drawing/2014/main" id="{68C6D30C-9D9E-0D37-6C86-B68D9BCDF609}"/>
              </a:ext>
            </a:extLst>
          </p:cNvPr>
          <p:cNvSpPr/>
          <p:nvPr/>
        </p:nvSpPr>
        <p:spPr>
          <a:xfrm rot="16200000">
            <a:off x="2733846" y="3869327"/>
            <a:ext cx="525380" cy="106412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Breitbild</PresentationFormat>
  <Paragraphs>69</Paragraphs>
  <Slides>13</Slides>
  <Notes>13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Noto Sans SC</vt:lpstr>
      <vt:lpstr>Calibri</vt:lpstr>
      <vt:lpstr>Urbanist Medium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</dc:creator>
  <cp:lastModifiedBy>Alex</cp:lastModifiedBy>
  <cp:revision>15</cp:revision>
  <dcterms:modified xsi:type="dcterms:W3CDTF">2026-06-17T09:14:46Z</dcterms:modified>
</cp:coreProperties>
</file>